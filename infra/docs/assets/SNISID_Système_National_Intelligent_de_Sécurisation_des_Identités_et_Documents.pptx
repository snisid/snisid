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1457911"/>
            <a:ext cx="6300788" cy="22276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457911"/>
            <a:ext cx="14288" cy="2227678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5" name="Text 2"/>
          <p:cNvSpPr/>
          <p:nvPr/>
        </p:nvSpPr>
        <p:spPr>
          <a:xfrm>
            <a:off x="1143000" y="1764227"/>
            <a:ext cx="5715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8F9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SNISID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1143000" y="2456864"/>
            <a:ext cx="57150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Système National Intelligent de Sécurisation des Identités et Documents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1143000" y="3185526"/>
            <a:ext cx="42862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Lutte Contre la Fraude et l'Usage de Faux en Haïti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43000" y="3456989"/>
            <a:ext cx="4286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Une initiative stratégique pour la transformation de la gouvernance identitaire.</a:t>
            </a:r>
            <a:endParaRPr lang="en-US" sz="834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3595092"/>
            <a:ext cx="7143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101013" cy="1080102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9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SNISID REMPLACE LA CONFIANCE HUMAINE PAR UNE VÉRIFICATION TECHNOLOGIQUE SYSTÉMATIQUE</a:t>
            </a:r>
            <a:endParaRPr lang="en-US" sz="2121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2225864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5863" y="2209791"/>
            <a:ext cx="18180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OBJECTIF CENTRAL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942975" y="2525902"/>
            <a:ext cx="35933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Garantir l'intégrité absolue de chaque document d'identité et de voyage délivré sur le territoire national.</a:t>
            </a:r>
            <a:endParaRPr lang="en-US" sz="94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194" y="2225864"/>
            <a:ext cx="214313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64944" y="2209791"/>
            <a:ext cx="104120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APPROCHE</a:t>
            </a:r>
            <a:endParaRPr lang="en-US" sz="1193" dirty="0"/>
          </a:p>
        </p:txBody>
      </p:sp>
      <p:sp>
        <p:nvSpPr>
          <p:cNvPr id="9" name="Text 4"/>
          <p:cNvSpPr/>
          <p:nvPr/>
        </p:nvSpPr>
        <p:spPr>
          <a:xfrm>
            <a:off x="4979194" y="2525902"/>
            <a:ext cx="35933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Établir une interopérabilité en temps réel entre les institutions piliers de l'État pour une validation croisée.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" y="3310598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5863" y="3294524"/>
            <a:ext cx="176450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TRANSFORMATION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942975" y="3610635"/>
            <a:ext cx="35933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Passer d'un système vulnérable basé sur le papier à une infrastructure numérique inviolable et moderne.</a:t>
            </a:r>
            <a:endParaRPr lang="en-US" sz="942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9194" y="3310598"/>
            <a:ext cx="171450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22081" y="3294524"/>
            <a:ext cx="96262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GARANTIE</a:t>
            </a:r>
            <a:endParaRPr lang="en-US" sz="1193" dirty="0"/>
          </a:p>
        </p:txBody>
      </p:sp>
      <p:sp>
        <p:nvSpPr>
          <p:cNvPr id="15" name="Text 8"/>
          <p:cNvSpPr/>
          <p:nvPr/>
        </p:nvSpPr>
        <p:spPr>
          <a:xfrm>
            <a:off x="4979194" y="3610635"/>
            <a:ext cx="35933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Assurer la protection de l'identité de chaque citoyen haïtien contre l'usurpation et la falsification.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39046"/>
            <a:ext cx="8572500" cy="97721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12" b="1" dirty="0">
                <a:solidFill>
                  <a:srgbClr val="F8F9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FRAUDE DOCUMENTAIRE ET LA CORRUPTION SYSTÉMIQUE EXIGENT UNE RÉPONSE TECHNOLOGIQUE ROBUSTE</a:t>
            </a:r>
            <a:endParaRPr lang="en-US" sz="1912" dirty="0"/>
          </a:p>
        </p:txBody>
      </p:sp>
      <p:sp>
        <p:nvSpPr>
          <p:cNvPr id="4" name="Text 1"/>
          <p:cNvSpPr/>
          <p:nvPr/>
        </p:nvSpPr>
        <p:spPr>
          <a:xfrm>
            <a:off x="942975" y="1873448"/>
            <a:ext cx="229551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CONSTAT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942975" y="2132409"/>
            <a:ext cx="22955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 réseaux de fraude exploitent le manque de coordination entre les bases de données institutionnelles.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3609966" y="1873448"/>
            <a:ext cx="229551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CONSÉQUENCES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3609966" y="2132409"/>
            <a:ext cx="22955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Perte de revenus pour l'État et érosion de la crédibilité internationale d'Haïti et de ses documents officiels.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6276956" y="1873448"/>
            <a:ext cx="229554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FAIBLESSES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6276956" y="2132409"/>
            <a:ext cx="22955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systèmes actuels reposent sur des vérifications manuelles vulnérables à la corruption humaine.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1821656" y="2932509"/>
            <a:ext cx="5715000" cy="2000250"/>
          </a:xfrm>
          <a:prstGeom prst="rect">
            <a:avLst/>
          </a:prstGeom>
          <a:solidFill>
            <a:srgbClr val="64FFDA">
              <a:alpha val="5000"/>
            </a:srgbClr>
          </a:solidFill>
          <a:ln w="9144">
            <a:solidFill>
              <a:srgbClr val="64FFDA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64531" y="3075384"/>
            <a:ext cx="54292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Objectif : Réduction de la Fraude Documentaire</a:t>
            </a:r>
            <a:endParaRPr lang="en-US" sz="683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531" y="3268266"/>
            <a:ext cx="5414963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0055"/>
            <a:ext cx="8101013" cy="68580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F8F9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PRÉVENTION ET LA DÉTECTION DE LA FRAUDE SONT INSCRITES DANS L'ADN DU SNISID</a:t>
            </a:r>
            <a:endParaRPr lang="en-US" sz="201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94" y="1922004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8694" y="2332769"/>
            <a:ext cx="221216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F8F9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LOGS IMMUABLES</a:t>
            </a:r>
            <a:endParaRPr lang="en-US" sz="1090" dirty="0"/>
          </a:p>
        </p:txBody>
      </p:sp>
      <p:sp>
        <p:nvSpPr>
          <p:cNvPr id="6" name="Text 2"/>
          <p:cNvSpPr/>
          <p:nvPr/>
        </p:nvSpPr>
        <p:spPr>
          <a:xfrm>
            <a:off x="978694" y="2631021"/>
            <a:ext cx="2212163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Enregistrement indélébile de chaque action utilisateur. Une traçabilité complète garantissant une responsabilité totale et des audits transparents.</a:t>
            </a:r>
            <a:endParaRPr lang="en-US" sz="834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488" y="1922004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69488" y="2332769"/>
            <a:ext cx="221219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F8F9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VÉRIFICATION AUTO</a:t>
            </a:r>
            <a:endParaRPr lang="en-US" sz="1090" dirty="0"/>
          </a:p>
        </p:txBody>
      </p:sp>
      <p:sp>
        <p:nvSpPr>
          <p:cNvPr id="9" name="Text 4"/>
          <p:cNvSpPr/>
          <p:nvPr/>
        </p:nvSpPr>
        <p:spPr>
          <a:xfrm>
            <a:off x="3669488" y="2631021"/>
            <a:ext cx="2212191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Interrogation directe des bases de données institutionnelles via API sécurisées, éliminant le pouvoir discrétionnaire et les erreurs humaines.</a:t>
            </a:r>
            <a:endParaRPr lang="en-US" sz="834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309" y="192200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60309" y="2332769"/>
            <a:ext cx="221216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F8F9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ALERTES TEMPS RÉEL</a:t>
            </a:r>
            <a:endParaRPr lang="en-US" sz="1090" dirty="0"/>
          </a:p>
        </p:txBody>
      </p:sp>
      <p:sp>
        <p:nvSpPr>
          <p:cNvPr id="12" name="Text 6"/>
          <p:cNvSpPr/>
          <p:nvPr/>
        </p:nvSpPr>
        <p:spPr>
          <a:xfrm>
            <a:off x="6360309" y="2631021"/>
            <a:ext cx="221216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Détection instantanée des incohérences documentaires entraînant le blocage automatique du processus de délivrance.</a:t>
            </a:r>
            <a:endParaRPr lang="en-US" sz="834" dirty="0"/>
          </a:p>
        </p:txBody>
      </p:sp>
      <p:sp>
        <p:nvSpPr>
          <p:cNvPr id="13" name="Shape 7"/>
          <p:cNvSpPr/>
          <p:nvPr/>
        </p:nvSpPr>
        <p:spPr>
          <a:xfrm>
            <a:off x="785813" y="4146947"/>
            <a:ext cx="7786688" cy="56792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8"/>
          <p:cNvSpPr/>
          <p:nvPr/>
        </p:nvSpPr>
        <p:spPr>
          <a:xfrm>
            <a:off x="785813" y="4146947"/>
            <a:ext cx="7786688" cy="7144"/>
          </a:xfrm>
          <a:prstGeom prst="rect">
            <a:avLst/>
          </a:prstGeom>
          <a:solidFill>
            <a:srgbClr val="E0FFF8"/>
          </a:solidFill>
          <a:ln/>
        </p:spPr>
      </p:sp>
      <p:sp>
        <p:nvSpPr>
          <p:cNvPr id="15" name="Text 9"/>
          <p:cNvSpPr/>
          <p:nvPr/>
        </p:nvSpPr>
        <p:spPr>
          <a:xfrm>
            <a:off x="785813" y="4296966"/>
            <a:ext cx="1100138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 80%</a:t>
            </a:r>
            <a:endParaRPr lang="en-US" sz="2436" dirty="0"/>
          </a:p>
        </p:txBody>
      </p:sp>
      <p:sp>
        <p:nvSpPr>
          <p:cNvPr id="16" name="Text 10"/>
          <p:cNvSpPr/>
          <p:nvPr/>
        </p:nvSpPr>
        <p:spPr>
          <a:xfrm>
            <a:off x="2028825" y="4418409"/>
            <a:ext cx="36165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spc="2" kern="0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RÉDUCTION CIBLÉE DE LA FRAUDE DOCUMENTAIRE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39046"/>
            <a:ext cx="8572500" cy="651477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12" b="1" dirty="0">
                <a:solidFill>
                  <a:srgbClr val="F8F9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COLLABORATION INTER-INSTITUTIONNELLE RENFORCÉE</a:t>
            </a:r>
            <a:endParaRPr lang="en-US" sz="191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557533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21581" y="1547710"/>
            <a:ext cx="20859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PILOTAGE STRATÉGIQUE</a:t>
            </a:r>
            <a:endParaRPr lang="en-US" sz="1090" dirty="0"/>
          </a:p>
        </p:txBody>
      </p:sp>
      <p:sp>
        <p:nvSpPr>
          <p:cNvPr id="6" name="Text 2"/>
          <p:cNvSpPr/>
          <p:nvPr/>
        </p:nvSpPr>
        <p:spPr>
          <a:xfrm>
            <a:off x="942975" y="1810243"/>
            <a:ext cx="76295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Primature et Comité National Stratégique : Coordination ministérielle et arbitrage de haut niveau.</a:t>
            </a:r>
            <a:endParaRPr lang="en-US" sz="94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" y="2298697"/>
            <a:ext cx="214313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64444" y="2288874"/>
            <a:ext cx="179129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TECHNIQUE</a:t>
            </a:r>
            <a:endParaRPr lang="en-US" sz="1090" dirty="0"/>
          </a:p>
        </p:txBody>
      </p:sp>
      <p:sp>
        <p:nvSpPr>
          <p:cNvPr id="9" name="Text 4"/>
          <p:cNvSpPr/>
          <p:nvPr/>
        </p:nvSpPr>
        <p:spPr>
          <a:xfrm>
            <a:off x="942975" y="2551407"/>
            <a:ext cx="76295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Direction Générale SNISID : Pilotage opérationnel, Cybersécurité, Intelligence Artificielle et maintenance IT.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" y="3039861"/>
            <a:ext cx="214313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64444" y="3030038"/>
            <a:ext cx="264497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EXÉCUTION INSTITUTIONNELLE</a:t>
            </a:r>
            <a:endParaRPr lang="en-US" sz="1090" dirty="0"/>
          </a:p>
        </p:txBody>
      </p:sp>
      <p:sp>
        <p:nvSpPr>
          <p:cNvPr id="12" name="Text 6"/>
          <p:cNvSpPr/>
          <p:nvPr/>
        </p:nvSpPr>
        <p:spPr>
          <a:xfrm>
            <a:off x="1057275" y="3364009"/>
            <a:ext cx="23336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DIE &amp; ONI</a:t>
            </a:r>
            <a:endParaRPr lang="en-US" sz="784" dirty="0"/>
          </a:p>
        </p:txBody>
      </p:sp>
      <p:sp>
        <p:nvSpPr>
          <p:cNvPr id="13" name="Text 7"/>
          <p:cNvSpPr/>
          <p:nvPr/>
        </p:nvSpPr>
        <p:spPr>
          <a:xfrm>
            <a:off x="1057275" y="3539030"/>
            <a:ext cx="233360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Immigration et Identification : Capture biométrique et gestion de l'identité unique.</a:t>
            </a:r>
            <a:endParaRPr lang="en-US" sz="727" dirty="0"/>
          </a:p>
        </p:txBody>
      </p:sp>
      <p:sp>
        <p:nvSpPr>
          <p:cNvPr id="14" name="Text 8"/>
          <p:cNvSpPr/>
          <p:nvPr/>
        </p:nvSpPr>
        <p:spPr>
          <a:xfrm>
            <a:off x="3648056" y="3364009"/>
            <a:ext cx="23336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ANH &amp; DGI</a:t>
            </a:r>
            <a:endParaRPr lang="en-US" sz="784" dirty="0"/>
          </a:p>
        </p:txBody>
      </p:sp>
      <p:sp>
        <p:nvSpPr>
          <p:cNvPr id="15" name="Text 9"/>
          <p:cNvSpPr/>
          <p:nvPr/>
        </p:nvSpPr>
        <p:spPr>
          <a:xfrm>
            <a:off x="3648056" y="3539030"/>
            <a:ext cx="233363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Archives et Impôts : Numérisation des actes civils et validation de la cohérence fiscale.</a:t>
            </a:r>
            <a:endParaRPr lang="en-US" sz="727" dirty="0"/>
          </a:p>
        </p:txBody>
      </p:sp>
      <p:sp>
        <p:nvSpPr>
          <p:cNvPr id="16" name="Shape 10"/>
          <p:cNvSpPr/>
          <p:nvPr/>
        </p:nvSpPr>
        <p:spPr>
          <a:xfrm>
            <a:off x="6124566" y="3328290"/>
            <a:ext cx="2447906" cy="482203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17" name="Shape 11"/>
          <p:cNvSpPr/>
          <p:nvPr/>
        </p:nvSpPr>
        <p:spPr>
          <a:xfrm>
            <a:off x="6124566" y="3328290"/>
            <a:ext cx="14288" cy="482203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8" name="Text 12"/>
          <p:cNvSpPr/>
          <p:nvPr/>
        </p:nvSpPr>
        <p:spPr>
          <a:xfrm>
            <a:off x="6196003" y="3364009"/>
            <a:ext cx="23764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DCPJ (Nouveau)</a:t>
            </a:r>
            <a:endParaRPr lang="en-US" sz="784" dirty="0"/>
          </a:p>
        </p:txBody>
      </p:sp>
      <p:sp>
        <p:nvSpPr>
          <p:cNvPr id="19" name="Text 13"/>
          <p:cNvSpPr/>
          <p:nvPr/>
        </p:nvSpPr>
        <p:spPr>
          <a:xfrm>
            <a:off x="6196003" y="3539030"/>
            <a:ext cx="237646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Police Judiciaire : Intégration du Certificat de Police et vérification des antécédents.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58037"/>
            <a:ext cx="8715375" cy="6172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8F9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INSTITUTION PARTENAIRE EST UN MAILLON ESSENTIEL DE LA CHAÎNE DE CONFIANCE</a:t>
            </a:r>
            <a:endParaRPr lang="en-US" sz="1808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9" y="1390408"/>
            <a:ext cx="1728788" cy="11572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21731" y="1390408"/>
            <a:ext cx="207883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DIE &amp; ONI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2421731" y="1604721"/>
            <a:ext cx="2078831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Validation des </a:t>
            </a:r>
            <a:r>
              <a:rPr lang="en-US" sz="683" b="1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Passeports</a:t>
            </a: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et garantie de </a:t>
            </a: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</a:t>
            </a:r>
            <a:r>
              <a:rPr lang="en-US" sz="683" b="1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Identité Unique</a:t>
            </a: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via la base biométrique </a:t>
            </a: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centrale. Détection automatique des </a:t>
            </a: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doublons.</a:t>
            </a:r>
            <a:endParaRPr lang="en-US" sz="727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881" y="1390408"/>
            <a:ext cx="1728788" cy="11572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36544" y="1390408"/>
            <a:ext cx="20788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ARCHIVES NATIONALES (ANH)</a:t>
            </a:r>
            <a:endParaRPr lang="en-US" sz="885" dirty="0"/>
          </a:p>
        </p:txBody>
      </p:sp>
      <p:sp>
        <p:nvSpPr>
          <p:cNvPr id="9" name="Text 4"/>
          <p:cNvSpPr/>
          <p:nvPr/>
        </p:nvSpPr>
        <p:spPr>
          <a:xfrm>
            <a:off x="6636544" y="1761883"/>
            <a:ext cx="2078831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Numérisation des </a:t>
            </a:r>
            <a:r>
              <a:rPr lang="en-US" sz="683" b="1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Actes de Naissance</a:t>
            </a: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Transformation des archives papier en base </a:t>
            </a: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numérique fiable par OCR et indexation </a:t>
            </a: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rigoureuse.</a:t>
            </a:r>
            <a:endParaRPr lang="en-US" sz="727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9" y="2762008"/>
            <a:ext cx="1728788" cy="11572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421731" y="2762008"/>
            <a:ext cx="207883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DIRECTION DES IMPÔTS (DGI)</a:t>
            </a:r>
            <a:endParaRPr lang="en-US" sz="885" dirty="0"/>
          </a:p>
        </p:txBody>
      </p:sp>
      <p:sp>
        <p:nvSpPr>
          <p:cNvPr id="12" name="Text 6"/>
          <p:cNvSpPr/>
          <p:nvPr/>
        </p:nvSpPr>
        <p:spPr>
          <a:xfrm>
            <a:off x="2421731" y="2976321"/>
            <a:ext cx="2078831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Validation de la </a:t>
            </a:r>
            <a:r>
              <a:rPr lang="en-US" sz="683" b="1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Cohérence Fiscale</a:t>
            </a: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via le NIF </a:t>
            </a: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et contrôle des reçus de paiement officiels </a:t>
            </a: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pour éliminer la fraude financière.</a:t>
            </a:r>
            <a:endParaRPr lang="en-US" sz="727" dirty="0"/>
          </a:p>
        </p:txBody>
      </p:sp>
      <p:sp>
        <p:nvSpPr>
          <p:cNvPr id="13" name="Shape 7"/>
          <p:cNvSpPr/>
          <p:nvPr/>
        </p:nvSpPr>
        <p:spPr>
          <a:xfrm>
            <a:off x="4764881" y="2762008"/>
            <a:ext cx="1728788" cy="1157288"/>
          </a:xfrm>
          <a:prstGeom prst="rect">
            <a:avLst/>
          </a:prstGeom>
          <a:solidFill>
            <a:srgbClr val="64FFDA">
              <a:alpha val="5000"/>
            </a:srgbClr>
          </a:solidFill>
          <a:ln w="9144">
            <a:solidFill>
              <a:srgbClr val="64FFDA">
                <a:alpha val="20000"/>
              </a:srgbClr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622256" y="2762008"/>
            <a:ext cx="209311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POLICE JUDICIAIRE (DCPJ)</a:t>
            </a:r>
            <a:endParaRPr lang="en-US" sz="885" dirty="0"/>
          </a:p>
        </p:txBody>
      </p:sp>
      <p:sp>
        <p:nvSpPr>
          <p:cNvPr id="15" name="Text 9"/>
          <p:cNvSpPr/>
          <p:nvPr/>
        </p:nvSpPr>
        <p:spPr>
          <a:xfrm>
            <a:off x="6622256" y="2976321"/>
            <a:ext cx="2093119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Délivrance du </a:t>
            </a:r>
            <a:r>
              <a:rPr lang="en-US" sz="683" b="1" dirty="0">
                <a:solidFill>
                  <a:srgbClr val="F8F9F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Certificat de Police</a:t>
            </a: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authentifié </a:t>
            </a: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 un numéro de demande unique. </a:t>
            </a: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Vérification directe des antécédents </a:t>
            </a:r>
            <a:r>
              <a:rPr lang="en-US" sz="727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judiciaires.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1080102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8F9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PARCOURS DE VÉRIFICATION RIGOUREUX GARANTIT L'AUTHENTICITÉ DE CHAQUE DOCUMENT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2016323" y="2008789"/>
            <a:ext cx="376833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64FFDA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36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81" y="2196312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4381" y="2607078"/>
            <a:ext cx="170021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8F9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VÉRIFICATION CROISÉE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764381" y="3060706"/>
            <a:ext cx="1700213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Comparaison automatique et instantanée des données entre l'Extrait de Naissance (ANH), la CIN (ONI) et le NIF (DGI).</a:t>
            </a:r>
            <a:endParaRPr lang="en-US" sz="834" dirty="0"/>
          </a:p>
        </p:txBody>
      </p:sp>
      <p:sp>
        <p:nvSpPr>
          <p:cNvPr id="8" name="Text 4"/>
          <p:cNvSpPr/>
          <p:nvPr/>
        </p:nvSpPr>
        <p:spPr>
          <a:xfrm>
            <a:off x="3986213" y="2008789"/>
            <a:ext cx="442913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64FFDA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36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50" y="2196312"/>
            <a:ext cx="28575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00350" y="2607078"/>
            <a:ext cx="170021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8F9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AUTHENTIFICATION DCPJ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2800350" y="3060706"/>
            <a:ext cx="1700213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Validation directe du Certificat de Police via son identifiant unique dans le fichier central de la Police Judiciaire.</a:t>
            </a:r>
            <a:endParaRPr lang="en-US" sz="834" dirty="0"/>
          </a:p>
        </p:txBody>
      </p:sp>
      <p:sp>
        <p:nvSpPr>
          <p:cNvPr id="12" name="Text 7"/>
          <p:cNvSpPr/>
          <p:nvPr/>
        </p:nvSpPr>
        <p:spPr>
          <a:xfrm>
            <a:off x="6020395" y="2008789"/>
            <a:ext cx="444698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64FFDA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36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319" y="2196312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36319" y="2607078"/>
            <a:ext cx="170021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8F9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 BIOMÉTRIQUE</a:t>
            </a:r>
            <a:endParaRPr lang="en-US" sz="987" dirty="0"/>
          </a:p>
        </p:txBody>
      </p:sp>
      <p:sp>
        <p:nvSpPr>
          <p:cNvPr id="15" name="Text 9"/>
          <p:cNvSpPr/>
          <p:nvPr/>
        </p:nvSpPr>
        <p:spPr>
          <a:xfrm>
            <a:off x="4836319" y="3060706"/>
            <a:ext cx="1700213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 et comparaison haute précision des empreintes digitales et de la photo faciale avec la base de données de l'ONI.</a:t>
            </a:r>
            <a:endParaRPr lang="en-US" sz="834" dirty="0"/>
          </a:p>
        </p:txBody>
      </p:sp>
      <p:sp>
        <p:nvSpPr>
          <p:cNvPr id="16" name="Text 10"/>
          <p:cNvSpPr/>
          <p:nvPr/>
        </p:nvSpPr>
        <p:spPr>
          <a:xfrm>
            <a:off x="8018859" y="2008789"/>
            <a:ext cx="482203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64FFDA">
                    <a:alpha val="1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36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2288" y="2196312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72288" y="2607078"/>
            <a:ext cx="170021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8F9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DÉCISION SÉCURISÉE</a:t>
            </a:r>
            <a:endParaRPr lang="en-US" sz="987" dirty="0"/>
          </a:p>
        </p:txBody>
      </p:sp>
      <p:sp>
        <p:nvSpPr>
          <p:cNvPr id="19" name="Text 12"/>
          <p:cNvSpPr/>
          <p:nvPr/>
        </p:nvSpPr>
        <p:spPr>
          <a:xfrm>
            <a:off x="6872288" y="3060706"/>
            <a:ext cx="1700213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Approbation finale de délivrance uniquement après résolution de toutes les alertes et validation de l'intégrité du dossier.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801216"/>
            <a:ext cx="8686800" cy="477180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8F9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 UNE HAÏTI PLUS SÛRE ET PLUS CRÉDIBLE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131" y="2125154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28738" y="2115331"/>
            <a:ext cx="210562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INTERNATIONAL</a:t>
            </a:r>
            <a:endParaRPr lang="en-US" sz="1090" dirty="0"/>
          </a:p>
        </p:txBody>
      </p:sp>
      <p:sp>
        <p:nvSpPr>
          <p:cNvPr id="6" name="Text 2"/>
          <p:cNvSpPr/>
          <p:nvPr/>
        </p:nvSpPr>
        <p:spPr>
          <a:xfrm>
            <a:off x="1050131" y="2413583"/>
            <a:ext cx="330755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Reconnaissance accrue et confiance restaurée dans les documents officiels haïtiens auprès des partenaires mondiaux.</a:t>
            </a:r>
            <a:endParaRPr lang="en-US" sz="94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194" y="2125154"/>
            <a:ext cx="214313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00663" y="2115331"/>
            <a:ext cx="187166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SÉCURITÉ NATIONALE</a:t>
            </a:r>
            <a:endParaRPr lang="en-US" sz="1090" dirty="0"/>
          </a:p>
        </p:txBody>
      </p:sp>
      <p:sp>
        <p:nvSpPr>
          <p:cNvPr id="9" name="Text 4"/>
          <p:cNvSpPr/>
          <p:nvPr/>
        </p:nvSpPr>
        <p:spPr>
          <a:xfrm>
            <a:off x="4979194" y="2413583"/>
            <a:ext cx="330755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Contrôle rigoureux de l'identité pour prévenir les activités criminelles et protéger la souveraineté numérique.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131" y="3504902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28738" y="3495080"/>
            <a:ext cx="224135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GOUVERNANCE MODERNE</a:t>
            </a:r>
            <a:endParaRPr lang="en-US" sz="1090" dirty="0"/>
          </a:p>
        </p:txBody>
      </p:sp>
      <p:sp>
        <p:nvSpPr>
          <p:cNvPr id="12" name="Text 6"/>
          <p:cNvSpPr/>
          <p:nvPr/>
        </p:nvSpPr>
        <p:spPr>
          <a:xfrm>
            <a:off x="1050131" y="3793331"/>
            <a:ext cx="330755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Établissement d'un système transparent, efficace et responsable, éliminant les zones d'ombre administratives.</a:t>
            </a:r>
            <a:endParaRPr lang="en-US" sz="942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9194" y="3504902"/>
            <a:ext cx="171450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57800" y="3495080"/>
            <a:ext cx="249138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64FF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TRANSFORMATION DURABLE</a:t>
            </a:r>
            <a:endParaRPr lang="en-US" sz="1090" dirty="0"/>
          </a:p>
        </p:txBody>
      </p:sp>
      <p:sp>
        <p:nvSpPr>
          <p:cNvPr id="15" name="Text 8"/>
          <p:cNvSpPr/>
          <p:nvPr/>
        </p:nvSpPr>
        <p:spPr>
          <a:xfrm>
            <a:off x="4979194" y="3793331"/>
            <a:ext cx="330755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8B2D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Une étape historique vers une infrastructure numérique nationale souveraine et résiliente face à la corruption.</a:t>
            </a:r>
            <a:endParaRPr lang="en-US" sz="942" dirty="0"/>
          </a:p>
        </p:txBody>
      </p:sp>
      <p:sp>
        <p:nvSpPr>
          <p:cNvPr id="16" name="Text 9"/>
          <p:cNvSpPr/>
          <p:nvPr/>
        </p:nvSpPr>
        <p:spPr>
          <a:xfrm>
            <a:off x="0" y="4541639"/>
            <a:ext cx="914400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F8F9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SNISID : L'IDENTITÉ PROTÉGÉE, L'AVENIR SÉCURISÉ</a:t>
            </a:r>
            <a:endParaRPr lang="en-US" sz="98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2026-04-19T21:46:42Z</dcterms:created>
  <dcterms:modified xsi:type="dcterms:W3CDTF">2026-04-19T21:46:42Z</dcterms:modified>
</cp:coreProperties>
</file>